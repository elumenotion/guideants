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slide_deco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14600"/>
            <a:ext cx="103601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Building the Slide Show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Goals and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5029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Create a companion script to the Word converter for slide shows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Generate Markdown content and images programmatically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Convert Markdown to HTML for slide content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Export slides as PPTX and/or PDF</a:t>
            </a:r>
          </a:p>
          <a:p>
            <a:pPr algn="l">
              <a:spcAft>
                <a:spcPts val="14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Design visually appealing and professional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Image Tests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3601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3384"/>
                <a:gridCol w="3453384"/>
                <a:gridCol w="3453384"/>
              </a:tblGrid>
              <a:tr h="2514600">
                <a:tc>
                  <a:txBody>
                    <a:bodyPr/>
                    <a:lstStyle/>
                    <a:p>
                      <a:pPr algn="ctr">
                        <a:defRPr b="1" sz="20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20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20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8B0000"/>
                    </a:solidFill>
                  </a:tcPr>
                </a:tc>
              </a:tr>
              <a:tr h="2514600"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tmp2rwo1ul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232" y="1463040"/>
            <a:ext cx="2331720" cy="2331720"/>
          </a:xfrm>
          <a:prstGeom prst="rect">
            <a:avLst/>
          </a:prstGeom>
        </p:spPr>
      </p:pic>
      <p:pic>
        <p:nvPicPr>
          <p:cNvPr id="5" name="Picture 4" descr="tmpauck8s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3977640"/>
            <a:ext cx="2331720" cy="2331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Table Tests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36015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bstract_portr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3132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88525" y="2514600"/>
            <a:ext cx="6686026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 sz="5400">
                <a:solidFill>
                  <a:srgbClr val="8B0000"/>
                </a:solidFill>
                <a:latin typeface="Calibri"/>
              </a:defRPr>
            </a:pPr>
            <a:r>
              <a:t>Portrait Title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bstract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14600"/>
            <a:ext cx="103601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Landscape Title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Square Title Layout</a:t>
            </a:r>
          </a:p>
        </p:txBody>
      </p:sp>
      <p:pic>
        <p:nvPicPr>
          <p:cNvPr id="3" name="Picture 2" descr="abstract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876" y="1828800"/>
            <a:ext cx="50292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bstract_portr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626" y="0"/>
            <a:ext cx="413132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668602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 sz="5400">
                <a:solidFill>
                  <a:srgbClr val="8B0000"/>
                </a:solidFill>
                <a:latin typeface="Calibri"/>
              </a:defRPr>
            </a:pPr>
            <a:r>
              <a:t>Portrait With Subtitle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668602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 sz="3200">
                <a:solidFill>
                  <a:srgbClr val="8B0000"/>
                </a:solidFill>
                <a:latin typeface="Calibri"/>
              </a:defRPr>
            </a:pPr>
            <a:r>
              <a:t>Testing the subtitle 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bstract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40280"/>
            <a:ext cx="10360152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Landscape With Subtitle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10360152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 sz="3200">
                <a:solidFill>
                  <a:srgbClr val="8B0000"/>
                </a:solidFill>
                <a:latin typeface="Calibri"/>
              </a:defRPr>
            </a:pPr>
            <a:r>
              <a:t>Testing the overlay 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Square With Subtitle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 sz="3200">
                <a:solidFill>
                  <a:srgbClr val="8B0000"/>
                </a:solidFill>
                <a:latin typeface="Calibri"/>
              </a:defRPr>
            </a:pPr>
            <a:r>
              <a:t>Testing the centered placement</a:t>
            </a:r>
          </a:p>
        </p:txBody>
      </p:sp>
      <p:pic>
        <p:nvPicPr>
          <p:cNvPr id="4" name="Picture 3" descr="abstract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6" y="310896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Content and Image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943600" cy="5029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This layout puts content on the left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And the image on the right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It automatically detects this mix</a:t>
            </a:r>
          </a:p>
          <a:p>
            <a:pPr algn="l">
              <a:spcAft>
                <a:spcPts val="14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Perfect for explaining charts or diagrams</a:t>
            </a:r>
          </a:p>
        </p:txBody>
      </p:sp>
      <p:pic>
        <p:nvPicPr>
          <p:cNvPr id="4" name="Picture 3" descr="abstract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Code Block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solidFill>
            <a:srgbClr val="F8F8F8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1600">
                <a:solidFill>
                  <a:srgbClr val="8B0000"/>
                </a:solidFill>
                <a:latin typeface="Consolas"/>
              </a:defRPr>
            </a:pPr>
            <a:r>
              <a:t>def hello_world():</a:t>
            </a:r>
          </a:p>
          <a:p>
            <a:r>
              <a:t>    print("Hello Slide Show!")</a:t>
            </a:r>
          </a:p>
          <a:p>
            <a:r>
              <a:t>    return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Multiple Bullet Lists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5029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This slide tests the </a:t>
            </a:r>
            <a:r>
              <a:rPr b="1"/>
              <a:t>critical fix</a:t>
            </a:r>
            <a:r>
              <a:t> for separate bullet lists.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First bullet point in list one</a:t>
            </a:r>
          </a:p>
          <a:p>
            <a:pPr algn="l">
              <a:spcAft>
                <a:spcPts val="14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Second bullet point in list one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This is a paragraph between two lists that should NOT merge them.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First bullet point in list two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Second bullet point in list two</a:t>
            </a:r>
          </a:p>
          <a:p>
            <a:pPr algn="l">
              <a:spcAft>
                <a:spcPts val="14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Third bullet point in list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Complex List Separation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5029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The wife's characteristics: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Relying on her assistant and does not have the menu</a:t>
            </a:r>
          </a:p>
          <a:p>
            <a:pPr algn="l">
              <a:spcAft>
                <a:spcPts val="14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Representative of a normal person using an AI assistant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The husband, who represents the assistant: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Acts autonomously without seeking feedback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Did his best with the information available</a:t>
            </a:r>
          </a:p>
          <a:p>
            <a:pPr algn="l">
              <a:spcAft>
                <a:spcPts val="14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And so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Nested Lists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5029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Top level item one</a:t>
            </a:r>
          </a:p>
          <a:p>
            <a:pPr algn="l" lvl="1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Nested item 1.1</a:t>
            </a:r>
          </a:p>
          <a:p>
            <a:pPr algn="l" lvl="1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Nested item 1.2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Top level item two</a:t>
            </a:r>
          </a:p>
          <a:p>
            <a:pPr algn="l" lvl="1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Nested item 2.1</a:t>
            </a:r>
          </a:p>
          <a:p>
            <a:pPr algn="l">
              <a:spcAft>
                <a:spcPts val="14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Top level item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Numbered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5029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1. </a:t>
            </a:r>
            <a:r>
              <a:t>First numbered item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2. </a:t>
            </a:r>
            <a:r>
              <a:t>Second numbered item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3. </a:t>
            </a:r>
            <a:r>
              <a:t>Third numbered item with </a:t>
            </a:r>
            <a:r>
              <a:rPr b="1"/>
              <a:t>bold text</a:t>
            </a:r>
          </a:p>
          <a:p>
            <a:pPr algn="l">
              <a:spcAft>
                <a:spcPts val="14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4. </a:t>
            </a:r>
            <a:r>
              <a:t>Fourth numbered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Mixed Content: Paragraphs and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5029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This is a paragraph that introduces the content below.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First bullet point</a:t>
            </a:r>
          </a:p>
          <a:p>
            <a:pPr algn="l">
              <a:spcAft>
                <a:spcPts val="14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Second bullet point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Another paragraph between content blocks.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Another bullet list starts here</a:t>
            </a:r>
          </a:p>
          <a:p>
            <a:pPr algn="l">
              <a:spcAft>
                <a:spcPts val="14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This should be separate from the first list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Final paragraph to wrap things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Text Formatting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5029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This slide tests </a:t>
            </a:r>
            <a:r>
              <a:rPr b="1"/>
              <a:t>bold text</a:t>
            </a:r>
            <a:r>
              <a:t>, *italic text*, and </a:t>
            </a:r>
            <a:r>
              <a:rPr b="1"/>
              <a:t>*bold italic text</a:t>
            </a:r>
            <a:r>
              <a:t>*.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Bullet with </a:t>
            </a:r>
            <a:r>
              <a:rPr b="1"/>
              <a:t>bold</a:t>
            </a:r>
            <a:r>
              <a:t> text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Bullet with *italic* text</a:t>
            </a:r>
          </a:p>
          <a:p>
            <a:pPr algn="l">
              <a:spcAft>
                <a:spcPts val="14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Bullet with </a:t>
            </a:r>
            <a:r>
              <a:rPr b="1"/>
              <a:t>*bold italic</a:t>
            </a:r>
            <a:r>
              <a:t>* text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Regular paragraph with </a:t>
            </a:r>
            <a:r>
              <a:rPr b="1"/>
              <a:t>bold</a:t>
            </a:r>
            <a:r>
              <a:t>, *italic*, and </a:t>
            </a:r>
            <a:r>
              <a:rPr b="1"/>
              <a:t>*bold italic</a:t>
            </a:r>
            <a:r>
              <a:t>* formatting.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Multiple Paragraphs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5029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First paragraph with some content. This tests how multiple paragraphs are handled in the layout system.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Second paragraph continues the discussion. It should be properly spaced from the first paragraph.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Third paragraph wraps up the content. This tests paragraph spacing and layout.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17420"/>
            <a:ext cx="10360152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Headers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54780"/>
            <a:ext cx="103601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 sz="3200">
                <a:solidFill>
                  <a:srgbClr val="8B0000"/>
                </a:solidFill>
                <a:latin typeface="Calibri"/>
              </a:defRPr>
            </a:pPr>
            <a:r>
              <a:t>H2 Subtitle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Image with Multiple Paragraphs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943600" cy="5029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First paragraph describing the image above. This tests how images interact with multiple paragraphs of text.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Second paragraph continues the discussion. Images should be properly positioned relative to text content.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Third paragraph wraps up the content. The layout should handle this combination gracefully.</a:t>
            </a:r>
          </a:p>
        </p:txBody>
      </p:sp>
      <p:pic>
        <p:nvPicPr>
          <p:cNvPr id="4" name="Picture 3" descr="abstract_portr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3029638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Multiple Images Test</a:t>
            </a:r>
          </a:p>
        </p:txBody>
      </p:sp>
      <p:pic>
        <p:nvPicPr>
          <p:cNvPr id="3" name="Picture 2" descr="abstract_portr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" y="2286000"/>
            <a:ext cx="3657600" cy="2743200"/>
          </a:xfrm>
          <a:prstGeom prst="rect">
            <a:avLst/>
          </a:prstGeom>
        </p:spPr>
      </p:pic>
      <p:pic>
        <p:nvPicPr>
          <p:cNvPr id="4" name="Picture 3" descr="abstract_landsc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6" y="2286000"/>
            <a:ext cx="3657600" cy="2743200"/>
          </a:xfrm>
          <a:prstGeom prst="rect">
            <a:avLst/>
          </a:prstGeom>
        </p:spPr>
      </p:pic>
      <p:pic>
        <p:nvPicPr>
          <p:cNvPr id="5" name="Picture 4" descr="abstract_squ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0476" y="2286000"/>
            <a:ext cx="36576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Bullet List with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943600" cy="5029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First point about the image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Second point about the image</a:t>
            </a:r>
          </a:p>
          <a:p>
            <a:pPr algn="l">
              <a:spcAft>
                <a:spcPts val="14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Third point about the image</a:t>
            </a:r>
          </a:p>
        </p:txBody>
      </p:sp>
      <p:pic>
        <p:nvPicPr>
          <p:cNvPr id="4" name="Picture 3" descr="abstract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Image with Bullet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943600" cy="5029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Point one related to the image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Point two related to the image</a:t>
            </a:r>
          </a:p>
          <a:p>
            <a:pPr algn="l">
              <a:spcAft>
                <a:spcPts val="14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Point three related to the image</a:t>
            </a:r>
          </a:p>
        </p:txBody>
      </p:sp>
      <p:pic>
        <p:nvPicPr>
          <p:cNvPr id="4" name="Picture 3" descr="abstract_portr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3029638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Complex Table Layout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360152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Bullet 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✅ 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Separate lists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Images</a:t>
                      </a:r>
                    </a:p>
                  </a:txBody>
                  <a:tcPr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✅ Working</a:t>
                      </a:r>
                    </a:p>
                  </a:txBody>
                  <a:tcPr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All formats supported</a:t>
                      </a:r>
                    </a:p>
                  </a:txBody>
                  <a:tcPr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AF5F5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✅ 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Full markdown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Code Blocks</a:t>
                      </a:r>
                    </a:p>
                  </a:txBody>
                  <a:tcPr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✅ Working</a:t>
                      </a:r>
                    </a:p>
                  </a:txBody>
                  <a:tcPr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Syntax highlighting ready</a:t>
                      </a:r>
                    </a:p>
                  </a:txBody>
                  <a:tcPr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AF5F5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Formatting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✅ 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Bold, italic,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Table with Images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3601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3384"/>
                <a:gridCol w="3453384"/>
                <a:gridCol w="3453384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Column 1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Column 2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Column 3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Text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More text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Regular cell</a:t>
                      </a:r>
                    </a:p>
                  </a:txBody>
                  <a:tcPr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Another cell</a:t>
                      </a:r>
                    </a:p>
                  </a:txBody>
                  <a:tcPr>
                    <a:solidFill>
                      <a:srgbClr val="FAF5F5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Final 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  <a:r>
                        <a:t>Content 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8B0000"/>
                          </a:solidFill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abstract_portr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472" y="2720340"/>
            <a:ext cx="647240" cy="1074420"/>
          </a:xfrm>
          <a:prstGeom prst="rect">
            <a:avLst/>
          </a:prstGeom>
        </p:spPr>
      </p:pic>
      <p:pic>
        <p:nvPicPr>
          <p:cNvPr id="5" name="Picture 4" descr="abstract_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266" y="3977640"/>
            <a:ext cx="1074420" cy="1074420"/>
          </a:xfrm>
          <a:prstGeom prst="rect">
            <a:avLst/>
          </a:prstGeom>
        </p:spPr>
      </p:pic>
      <p:pic>
        <p:nvPicPr>
          <p:cNvPr id="6" name="Picture 5" descr="abstract_landsca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091" y="5234940"/>
            <a:ext cx="1783537" cy="1074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Code Blocks: Multiple Languages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solidFill>
            <a:srgbClr val="F8F8F8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1600">
                <a:solidFill>
                  <a:srgbClr val="8B0000"/>
                </a:solidFill>
                <a:latin typeface="Consolas"/>
              </a:defRPr>
            </a:pPr>
            <a:r>
              <a:t>def process_markdown(text):</a:t>
            </a:r>
          </a:p>
          <a:p>
            <a:r>
              <a:t>    """Process markdown content"""</a:t>
            </a:r>
          </a:p>
          <a:p>
            <a:r>
              <a:t>    result = parse(text)</a:t>
            </a:r>
          </a:p>
          <a:p>
            <a:r>
              <a:t>    return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Title with Subtitle and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5029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Content point one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Content point two</a:t>
            </a:r>
          </a:p>
          <a:p>
            <a:pPr algn="l">
              <a:spcAft>
                <a:spcPts val="14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Content point three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Additional paragraph content goes 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bstract_portr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3132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88525" y="2514600"/>
            <a:ext cx="6686026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 sz="5400">
                <a:solidFill>
                  <a:srgbClr val="8B0000"/>
                </a:solidFill>
                <a:latin typeface="Calibri"/>
              </a:defRPr>
            </a:pPr>
            <a:r>
              <a:t>Image Focused: Portrait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bstract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14600"/>
            <a:ext cx="103601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Image Focused: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Image Focused: Square</a:t>
            </a:r>
          </a:p>
        </p:txBody>
      </p:sp>
      <p:pic>
        <p:nvPicPr>
          <p:cNvPr id="3" name="Picture 2" descr="abstract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876" y="1828800"/>
            <a:ext cx="50292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Content Heavy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5029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8B0000"/>
                </a:solidFill>
                <a:latin typeface="Calibri"/>
              </a:defRPr>
            </a:pPr>
            <a:r>
              <a:t>Section One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First item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Second item</a:t>
            </a:r>
          </a:p>
          <a:p>
            <a:pPr algn="l">
              <a:spcAft>
                <a:spcPts val="14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Third item</a:t>
            </a:r>
          </a:p>
          <a:p>
            <a:pPr algn="l">
              <a:spcAft>
                <a:spcPts val="600"/>
              </a:spcAft>
              <a:defRPr sz="2200" b="1">
                <a:solidFill>
                  <a:srgbClr val="8B0000"/>
                </a:solidFill>
                <a:latin typeface="Calibri"/>
              </a:defRPr>
            </a:pPr>
            <a:r>
              <a:t>Section Two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1. </a:t>
            </a:r>
            <a:r>
              <a:t>Numbered item one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2. </a:t>
            </a:r>
            <a:r>
              <a:t>Numbered item two</a:t>
            </a:r>
          </a:p>
          <a:p>
            <a:pPr algn="l">
              <a:spcAft>
                <a:spcPts val="14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3. </a:t>
            </a:r>
            <a:r>
              <a:t>Numbered item three</a:t>
            </a:r>
          </a:p>
          <a:p>
            <a:pPr algn="l">
              <a:spcAft>
                <a:spcPts val="600"/>
              </a:spcAft>
              <a:defRPr sz="2200" b="1">
                <a:solidFill>
                  <a:srgbClr val="8B0000"/>
                </a:solidFill>
                <a:latin typeface="Calibri"/>
              </a:defRPr>
            </a:pPr>
            <a:r>
              <a:t>Section Three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Regular paragraph content in section three.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Mixed Layout: Image and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943600" cy="5029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List item one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List item two</a:t>
            </a:r>
          </a:p>
          <a:p>
            <a:pPr algn="l">
              <a:spcAft>
                <a:spcPts val="14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List item three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Paragraph text after the list.</a:t>
            </a:r>
          </a:p>
        </p:txBody>
      </p:sp>
      <p:pic>
        <p:nvPicPr>
          <p:cNvPr id="4" name="Picture 3" descr="abstract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Long Content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5029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This slide tests how the system handles longer content blocks. The paragraph should wrap properly and maintain good readability.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First bullet point with longer text that might wrap to multiple lines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Second bullet point also with substantial content</a:t>
            </a:r>
          </a:p>
          <a:p>
            <a:pPr algn="l">
              <a:spcAft>
                <a:spcPts val="14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Third bullet point to complete the list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Another paragraph follows to test spacing and layout with longer content blocks.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Edge Cases: Empty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5029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This paragraph has spacing.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Bullet after spacing</a:t>
            </a:r>
          </a:p>
          <a:p>
            <a:pPr algn="l">
              <a:spcAft>
                <a:spcPts val="14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Another bullet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More spacing here.</a:t>
            </a:r>
          </a:p>
          <a:p>
            <a:pPr algn="l">
              <a:spcAft>
                <a:spcPts val="8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Another list after spacing</a:t>
            </a:r>
          </a:p>
          <a:p>
            <a:pPr algn="l">
              <a:spcAft>
                <a:spcPts val="1400"/>
              </a:spcAft>
              <a:defRPr sz="2000">
                <a:solidFill>
                  <a:srgbClr val="8B0000"/>
                </a:solidFill>
                <a:latin typeface="Calibri"/>
              </a:defRPr>
            </a:pPr>
            <a:r>
              <a:t>• </a:t>
            </a:r>
            <a:r>
              <a:t>Final bullet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5400" b="1">
                <a:solidFill>
                  <a:srgbClr val="8B0000"/>
                </a:solidFill>
                <a:latin typeface="Calibri Light"/>
              </a:defRPr>
            </a:pPr>
            <a:r>
              <a:t>Code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solidFill>
            <a:srgbClr val="F8F8F8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1600">
                <a:solidFill>
                  <a:srgbClr val="8B0000"/>
                </a:solidFill>
                <a:latin typeface="Consolas"/>
              </a:defRPr>
            </a:pPr>
            <a:r>
              <a:t>print("Formatted content")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922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Calibri"/>
              </a:defRPr>
            </a:pPr>
            <a:r>
              <a:t>Author: Doug Ware with assistance from GuideAnts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